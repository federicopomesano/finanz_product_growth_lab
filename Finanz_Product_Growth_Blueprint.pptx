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24"/>
    <a:srgbClr val="F5FCF1"/>
    <a:srgbClr val="FBFFFC"/>
    <a:srgbClr val="EFFFEF"/>
    <a:srgbClr val="E9FDEC"/>
    <a:srgbClr val="F5FAFF"/>
    <a:srgbClr val="000000"/>
    <a:srgbClr val="F5FBFF"/>
    <a:srgbClr val="F8FAFC"/>
    <a:srgbClr val="F8F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Retention D1 (%)</c:v>
                </c:pt>
              </c:strCache>
            </c:strRef>
          </c:tx>
          <c:spPr>
            <a:ln w="31750">
              <a:solidFill>
                <a:srgbClr val="375FD2"/>
              </a:solidFill>
            </a:ln>
          </c:spPr>
          <c:cat>
            <c:strRef>
              <c:f>Sheet1!$A$2:$A$15</c:f>
              <c:strCache>
                <c:ptCount val="14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  <c:pt idx="4">
                  <c:v>Week 5</c:v>
                </c:pt>
                <c:pt idx="5">
                  <c:v>Week 6</c:v>
                </c:pt>
                <c:pt idx="6">
                  <c:v>Week 7</c:v>
                </c:pt>
                <c:pt idx="7">
                  <c:v>Week 8</c:v>
                </c:pt>
                <c:pt idx="8">
                  <c:v>Week 9</c:v>
                </c:pt>
                <c:pt idx="9">
                  <c:v>Week 10</c:v>
                </c:pt>
                <c:pt idx="10">
                  <c:v>Week 11</c:v>
                </c:pt>
                <c:pt idx="11">
                  <c:v>Week 12</c:v>
                </c:pt>
                <c:pt idx="12">
                  <c:v>Week 13</c:v>
                </c:pt>
                <c:pt idx="13">
                  <c:v>Week 14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60</c:v>
                </c:pt>
                <c:pt idx="1">
                  <c:v>57.9</c:v>
                </c:pt>
                <c:pt idx="2">
                  <c:v>47.1</c:v>
                </c:pt>
                <c:pt idx="3">
                  <c:v>61.3</c:v>
                </c:pt>
                <c:pt idx="4">
                  <c:v>59</c:v>
                </c:pt>
                <c:pt idx="5">
                  <c:v>51.3</c:v>
                </c:pt>
                <c:pt idx="6">
                  <c:v>63.1</c:v>
                </c:pt>
                <c:pt idx="7">
                  <c:v>62.6</c:v>
                </c:pt>
                <c:pt idx="8">
                  <c:v>58.3</c:v>
                </c:pt>
                <c:pt idx="9">
                  <c:v>59.4</c:v>
                </c:pt>
                <c:pt idx="10">
                  <c:v>57.3</c:v>
                </c:pt>
                <c:pt idx="11">
                  <c:v>56.3</c:v>
                </c:pt>
                <c:pt idx="12">
                  <c:v>53.9</c:v>
                </c:pt>
                <c:pt idx="13">
                  <c:v>66.7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92-4EFD-AAA4-A11D1642263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Retention D7 (%)</c:v>
                </c:pt>
              </c:strCache>
            </c:strRef>
          </c:tx>
          <c:spPr>
            <a:ln w="31750">
              <a:solidFill>
                <a:srgbClr val="D7A02D"/>
              </a:solidFill>
            </a:ln>
          </c:spPr>
          <c:cat>
            <c:strRef>
              <c:f>Sheet1!$A$2:$A$15</c:f>
              <c:strCache>
                <c:ptCount val="14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  <c:pt idx="4">
                  <c:v>Week 5</c:v>
                </c:pt>
                <c:pt idx="5">
                  <c:v>Week 6</c:v>
                </c:pt>
                <c:pt idx="6">
                  <c:v>Week 7</c:v>
                </c:pt>
                <c:pt idx="7">
                  <c:v>Week 8</c:v>
                </c:pt>
                <c:pt idx="8">
                  <c:v>Week 9</c:v>
                </c:pt>
                <c:pt idx="9">
                  <c:v>Week 10</c:v>
                </c:pt>
                <c:pt idx="10">
                  <c:v>Week 11</c:v>
                </c:pt>
                <c:pt idx="11">
                  <c:v>Week 12</c:v>
                </c:pt>
                <c:pt idx="12">
                  <c:v>Week 13</c:v>
                </c:pt>
                <c:pt idx="13">
                  <c:v>Week 14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22</c:v>
                </c:pt>
                <c:pt idx="1">
                  <c:v>21.5</c:v>
                </c:pt>
                <c:pt idx="2">
                  <c:v>24</c:v>
                </c:pt>
                <c:pt idx="3">
                  <c:v>13.2</c:v>
                </c:pt>
                <c:pt idx="4">
                  <c:v>23.1</c:v>
                </c:pt>
                <c:pt idx="5">
                  <c:v>24.4</c:v>
                </c:pt>
                <c:pt idx="6">
                  <c:v>18</c:v>
                </c:pt>
                <c:pt idx="7">
                  <c:v>21.1</c:v>
                </c:pt>
                <c:pt idx="8">
                  <c:v>25</c:v>
                </c:pt>
                <c:pt idx="9">
                  <c:v>21.9</c:v>
                </c:pt>
                <c:pt idx="10">
                  <c:v>20</c:v>
                </c:pt>
                <c:pt idx="11">
                  <c:v>17.899999999999999</c:v>
                </c:pt>
                <c:pt idx="12">
                  <c:v>24</c:v>
                </c:pt>
                <c:pt idx="13">
                  <c:v>58.3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B92-4EFD-AAA4-A11D164226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legendEntry>
        <c:idx val="0"/>
        <c:txPr>
          <a:bodyPr/>
          <a:lstStyle/>
          <a:p>
            <a:pPr>
              <a:defRPr sz="1100" b="1">
                <a:solidFill>
                  <a:srgbClr val="6E6E73"/>
                </a:solidFill>
              </a:defRPr>
            </a:pPr>
            <a:endParaRPr lang="it-IT"/>
          </a:p>
        </c:txPr>
      </c:legendEntry>
      <c:overlay val="0"/>
      <c:txPr>
        <a:bodyPr/>
        <a:lstStyle/>
        <a:p>
          <a:pPr>
            <a:defRPr sz="1100" b="1">
              <a:solidFill>
                <a:srgbClr val="6E6E73"/>
              </a:solidFill>
            </a:defRPr>
          </a:pPr>
          <a:endParaRPr lang="it-IT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F6CE87-D722-4950-9296-25CA38931AD8}" type="datetimeFigureOut">
              <a:rPr lang="it-IT" smtClean="0"/>
              <a:t>16/09/2026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4B112A-025A-4DAF-8B82-89F0528262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1058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4B112A-025A-4DAF-8B82-89F05282627D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9039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4B112A-025A-4DAF-8B82-89F05282627D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74653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4B112A-025A-4DAF-8B82-89F05282627D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0537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4B112A-025A-4DAF-8B82-89F05282627D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3888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09590" y="2560320"/>
            <a:ext cx="1371600" cy="54864"/>
          </a:xfrm>
          <a:prstGeom prst="rect">
            <a:avLst/>
          </a:prstGeom>
          <a:solidFill>
            <a:srgbClr val="375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1E1E24"/>
                </a:solidFill>
              </a:defRPr>
            </a:pPr>
            <a:r>
              <a:rPr dirty="0">
                <a:latin typeface="Poppins" panose="00000500000000000000" pitchFamily="2" charset="0"/>
                <a:cs typeface="Poppins" panose="00000500000000000000" pitchFamily="2" charset="0"/>
              </a:rPr>
              <a:t>Product Funnel &amp; Activation</a:t>
            </a:r>
          </a:p>
          <a:p>
            <a:pPr algn="ctr"/>
            <a:br>
              <a:rPr lang="it-IT" b="1" dirty="0">
                <a:solidFill>
                  <a:srgbClr val="1E1E24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it-IT" b="1" dirty="0">
                <a:solidFill>
                  <a:srgbClr val="1E1E2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Analisi quantitativa della conversione utente lungo le 5 fasi </a:t>
            </a:r>
          </a:p>
          <a:p>
            <a:pPr algn="ctr"/>
            <a:r>
              <a:rPr lang="it-IT" b="1" dirty="0">
                <a:solidFill>
                  <a:srgbClr val="1E1E2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del </a:t>
            </a:r>
            <a:r>
              <a:rPr lang="it-IT" b="1" dirty="0" err="1">
                <a:solidFill>
                  <a:srgbClr val="1E1E2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funnel</a:t>
            </a:r>
            <a:r>
              <a:rPr lang="it-IT" b="1" dirty="0">
                <a:solidFill>
                  <a:srgbClr val="1E1E2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di acquisizione.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1E24"/>
                </a:solidFill>
                <a:latin typeface="Arial"/>
              </a:defRPr>
            </a:pPr>
            <a:r>
              <a:rPr dirty="0" err="1">
                <a:latin typeface="Poppins" panose="00000500000000000000" pitchFamily="2" charset="0"/>
                <a:cs typeface="Poppins" panose="00000500000000000000" pitchFamily="2" charset="0"/>
              </a:rPr>
              <a:t>Conversione</a:t>
            </a:r>
            <a:r>
              <a:rPr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Cumulativa</a:t>
            </a:r>
            <a:endParaRPr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1E24"/>
                </a:solidFill>
              </a:defRPr>
            </a:pPr>
            <a:r>
              <a:rPr dirty="0"/>
              <a:t>1. App Open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0" y="1691640"/>
            <a:ext cx="7772400" cy="411480"/>
          </a:xfrm>
          <a:prstGeom prst="roundRect">
            <a:avLst/>
          </a:prstGeom>
          <a:solidFill>
            <a:srgbClr val="C3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108960" y="1691640"/>
            <a:ext cx="7772400" cy="411480"/>
          </a:xfrm>
          <a:prstGeom prst="roundRect">
            <a:avLst/>
          </a:prstGeom>
          <a:solidFill>
            <a:srgbClr val="375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rPr dirty="0"/>
              <a:t>100.0%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1E24"/>
                </a:solidFill>
              </a:defRPr>
            </a:pPr>
            <a:r>
              <a:t>2. Signup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2377439"/>
            <a:ext cx="7772400" cy="411480"/>
          </a:xfrm>
          <a:prstGeom prst="roundRect">
            <a:avLst/>
          </a:prstGeom>
          <a:solidFill>
            <a:srgbClr val="C3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108960" y="2377439"/>
            <a:ext cx="7010704" cy="411480"/>
          </a:xfrm>
          <a:prstGeom prst="roundRect">
            <a:avLst/>
          </a:prstGeom>
          <a:solidFill>
            <a:srgbClr val="375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90.2%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1E24"/>
                </a:solidFill>
              </a:defRPr>
            </a:pPr>
            <a:r>
              <a:rPr dirty="0"/>
              <a:t>3. Onboarding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3063239"/>
            <a:ext cx="7772400" cy="411480"/>
          </a:xfrm>
          <a:prstGeom prst="roundRect">
            <a:avLst/>
          </a:prstGeom>
          <a:solidFill>
            <a:srgbClr val="C3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108960" y="3063239"/>
            <a:ext cx="5261914" cy="411480"/>
          </a:xfrm>
          <a:prstGeom prst="roundRect">
            <a:avLst/>
          </a:prstGeom>
          <a:solidFill>
            <a:srgbClr val="375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67.7%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1E24"/>
                </a:solidFill>
              </a:defRPr>
            </a:pPr>
            <a:r>
              <a:t>4. First Lesson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3749039"/>
            <a:ext cx="7772400" cy="411480"/>
          </a:xfrm>
          <a:prstGeom prst="roundRect">
            <a:avLst/>
          </a:prstGeom>
          <a:solidFill>
            <a:srgbClr val="C3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108960" y="3749039"/>
            <a:ext cx="3163366" cy="411480"/>
          </a:xfrm>
          <a:prstGeom prst="roundRect">
            <a:avLst/>
          </a:prstGeom>
          <a:solidFill>
            <a:srgbClr val="375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40.7%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1E24"/>
                </a:solidFill>
              </a:defRPr>
            </a:pPr>
            <a:r>
              <a:t>5. Activation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4434840"/>
            <a:ext cx="7772400" cy="411480"/>
          </a:xfrm>
          <a:prstGeom prst="roundRect">
            <a:avLst/>
          </a:prstGeom>
          <a:solidFill>
            <a:srgbClr val="C3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108960" y="4434840"/>
            <a:ext cx="2236896" cy="411480"/>
          </a:xfrm>
          <a:prstGeom prst="roundRect">
            <a:avLst/>
          </a:prstGeom>
          <a:solidFill>
            <a:srgbClr val="375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rPr dirty="0"/>
              <a:t>28.</a:t>
            </a:r>
            <a:r>
              <a:rPr lang="it-IT" dirty="0"/>
              <a:t>8</a:t>
            </a:r>
            <a:r>
              <a:rPr dirty="0"/>
              <a:t>%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0A399039-E166-75BE-26DC-AB1C90E438E5}"/>
              </a:ext>
            </a:extLst>
          </p:cNvPr>
          <p:cNvSpPr/>
          <p:nvPr/>
        </p:nvSpPr>
        <p:spPr>
          <a:xfrm>
            <a:off x="914400" y="5319252"/>
            <a:ext cx="9966960" cy="1209367"/>
          </a:xfrm>
          <a:prstGeom prst="roundRect">
            <a:avLst/>
          </a:prstGeom>
          <a:solidFill>
            <a:srgbClr val="F5F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CAD1A92C-EC19-5612-A7E1-2129D44F8F45}"/>
              </a:ext>
            </a:extLst>
          </p:cNvPr>
          <p:cNvSpPr txBox="1"/>
          <p:nvPr/>
        </p:nvSpPr>
        <p:spPr>
          <a:xfrm>
            <a:off x="1310640" y="5397422"/>
            <a:ext cx="94065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rgbClr val="1E1E24"/>
                </a:solidFill>
              </a:rPr>
              <a:t>Il 28,8% degli utenti totali raggiunge la fase di </a:t>
            </a:r>
            <a:r>
              <a:rPr lang="it-IT" sz="1600" b="1" dirty="0" err="1">
                <a:solidFill>
                  <a:srgbClr val="1E1E24"/>
                </a:solidFill>
              </a:rPr>
              <a:t>Activation</a:t>
            </a:r>
            <a:r>
              <a:rPr lang="it-IT" sz="1600" b="1" dirty="0">
                <a:solidFill>
                  <a:srgbClr val="1E1E24"/>
                </a:solidFill>
              </a:rPr>
              <a:t>. Tra l’</a:t>
            </a:r>
            <a:r>
              <a:rPr lang="it-IT" sz="1600" b="1" dirty="0" err="1">
                <a:solidFill>
                  <a:srgbClr val="1E1E24"/>
                </a:solidFill>
              </a:rPr>
              <a:t>Onboarding</a:t>
            </a:r>
            <a:r>
              <a:rPr lang="it-IT" sz="1600" b="1" dirty="0">
                <a:solidFill>
                  <a:srgbClr val="1E1E24"/>
                </a:solidFill>
              </a:rPr>
              <a:t> e la First Lesson si registra una perdita cumulativa del 27% degli utenti totali.</a:t>
            </a:r>
          </a:p>
          <a:p>
            <a:endParaRPr lang="it-IT" sz="1400" dirty="0"/>
          </a:p>
          <a:p>
            <a:endParaRPr lang="it-IT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1E24"/>
                </a:solidFill>
                <a:latin typeface="Arial"/>
              </a:defRPr>
            </a:pPr>
            <a:r>
              <a:rPr dirty="0" err="1">
                <a:latin typeface="Poppins" panose="00000500000000000000" pitchFamily="2" charset="0"/>
                <a:cs typeface="Poppins" panose="00000500000000000000" pitchFamily="2" charset="0"/>
              </a:rPr>
              <a:t>Conversione</a:t>
            </a:r>
            <a:r>
              <a:rPr dirty="0">
                <a:latin typeface="Poppins" panose="00000500000000000000" pitchFamily="2" charset="0"/>
                <a:cs typeface="Poppins" panose="00000500000000000000" pitchFamily="2" charset="0"/>
              </a:rPr>
              <a:t> Stage-by-Stag</a:t>
            </a:r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e</a:t>
            </a:r>
            <a:endParaRPr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1E24"/>
                </a:solidFill>
              </a:defRPr>
            </a:pPr>
            <a:r>
              <a:rPr dirty="0"/>
              <a:t>1. App Open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0" y="1691640"/>
            <a:ext cx="7772400" cy="411480"/>
          </a:xfrm>
          <a:prstGeom prst="roundRect">
            <a:avLst/>
          </a:prstGeom>
          <a:solidFill>
            <a:srgbClr val="C3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108960" y="1691640"/>
            <a:ext cx="7772400" cy="411480"/>
          </a:xfrm>
          <a:prstGeom prst="roundRect">
            <a:avLst/>
          </a:prstGeom>
          <a:solidFill>
            <a:srgbClr val="375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100.0%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1E24"/>
                </a:solidFill>
              </a:defRPr>
            </a:pPr>
            <a:r>
              <a:t>2. Signup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2377439"/>
            <a:ext cx="7772400" cy="411480"/>
          </a:xfrm>
          <a:prstGeom prst="roundRect">
            <a:avLst/>
          </a:prstGeom>
          <a:solidFill>
            <a:srgbClr val="C3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108960" y="2377439"/>
            <a:ext cx="7010704" cy="411480"/>
          </a:xfrm>
          <a:prstGeom prst="roundRect">
            <a:avLst/>
          </a:prstGeom>
          <a:solidFill>
            <a:srgbClr val="375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90.2%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1E24"/>
                </a:solidFill>
              </a:defRPr>
            </a:pPr>
            <a:r>
              <a:t>3. Onboarding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3063239"/>
            <a:ext cx="7772400" cy="411480"/>
          </a:xfrm>
          <a:prstGeom prst="roundRect">
            <a:avLst/>
          </a:prstGeom>
          <a:solidFill>
            <a:srgbClr val="C3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108960" y="3063239"/>
            <a:ext cx="5837072" cy="411480"/>
          </a:xfrm>
          <a:prstGeom prst="roundRect">
            <a:avLst/>
          </a:prstGeom>
          <a:solidFill>
            <a:srgbClr val="375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75.1%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1E24"/>
                </a:solidFill>
              </a:defRPr>
            </a:pPr>
            <a:r>
              <a:t>4. First Lesson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3749039"/>
            <a:ext cx="7772400" cy="411480"/>
          </a:xfrm>
          <a:prstGeom prst="roundRect">
            <a:avLst/>
          </a:prstGeom>
          <a:solidFill>
            <a:srgbClr val="C3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108960" y="3749039"/>
            <a:ext cx="4671212" cy="411480"/>
          </a:xfrm>
          <a:prstGeom prst="roundRect">
            <a:avLst/>
          </a:prstGeom>
          <a:solidFill>
            <a:srgbClr val="375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60.1%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1E24"/>
                </a:solidFill>
              </a:defRPr>
            </a:pPr>
            <a:r>
              <a:rPr dirty="0"/>
              <a:t>5. Activation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4434840"/>
            <a:ext cx="7772400" cy="411480"/>
          </a:xfrm>
          <a:prstGeom prst="roundRect">
            <a:avLst/>
          </a:prstGeom>
          <a:solidFill>
            <a:srgbClr val="C3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108960" y="4434840"/>
            <a:ext cx="5502859" cy="411480"/>
          </a:xfrm>
          <a:prstGeom prst="roundRect">
            <a:avLst/>
          </a:prstGeom>
          <a:solidFill>
            <a:srgbClr val="375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70.8%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E3780F7F-D758-1220-CA63-B6AB5E4FD77C}"/>
              </a:ext>
            </a:extLst>
          </p:cNvPr>
          <p:cNvSpPr/>
          <p:nvPr/>
        </p:nvSpPr>
        <p:spPr>
          <a:xfrm>
            <a:off x="914400" y="5319252"/>
            <a:ext cx="9966960" cy="1209367"/>
          </a:xfrm>
          <a:prstGeom prst="roundRect">
            <a:avLst/>
          </a:prstGeom>
          <a:solidFill>
            <a:srgbClr val="F5F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C332DE54-586F-66EB-0F8F-F0F068F17E50}"/>
              </a:ext>
            </a:extLst>
          </p:cNvPr>
          <p:cNvSpPr txBox="1"/>
          <p:nvPr/>
        </p:nvSpPr>
        <p:spPr>
          <a:xfrm>
            <a:off x="1140542" y="5535561"/>
            <a:ext cx="933081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rgbClr val="1E1E24"/>
                </a:solidFill>
              </a:rPr>
              <a:t>Il punto di massima frizione si trova tra lo step di </a:t>
            </a:r>
            <a:r>
              <a:rPr lang="it-IT" sz="1600" b="1" dirty="0" err="1">
                <a:solidFill>
                  <a:srgbClr val="1E1E24"/>
                </a:solidFill>
              </a:rPr>
              <a:t>Onboarding</a:t>
            </a:r>
            <a:r>
              <a:rPr lang="it-IT" sz="1600" b="1" dirty="0">
                <a:solidFill>
                  <a:srgbClr val="1E1E24"/>
                </a:solidFill>
              </a:rPr>
              <a:t> e la First Lesson (conversione stage-by-stage del 60,1%). 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09590" y="2560320"/>
            <a:ext cx="1371600" cy="54864"/>
          </a:xfrm>
          <a:prstGeom prst="rect">
            <a:avLst/>
          </a:prstGeom>
          <a:solidFill>
            <a:srgbClr val="375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1E1E24"/>
                </a:solidFill>
              </a:defRPr>
            </a:pPr>
            <a:r>
              <a:rPr lang="it-IT" dirty="0" err="1">
                <a:latin typeface="Poppins" panose="00000500000000000000" pitchFamily="2" charset="0"/>
                <a:cs typeface="Poppins" panose="00000500000000000000" pitchFamily="2" charset="0"/>
              </a:rPr>
              <a:t>Retention</a:t>
            </a:r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dirty="0" err="1">
                <a:latin typeface="Poppins" panose="00000500000000000000" pitchFamily="2" charset="0"/>
                <a:cs typeface="Poppins" panose="00000500000000000000" pitchFamily="2" charset="0"/>
              </a:rPr>
              <a:t>Results</a:t>
            </a:r>
            <a:endParaRPr lang="it-IT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br>
              <a:rPr lang="it-IT" b="1" dirty="0">
                <a:solidFill>
                  <a:srgbClr val="1E1E24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it-IT" b="1" dirty="0">
                <a:solidFill>
                  <a:srgbClr val="1E1E2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Valutazione dell'abitudine d'uso (Habit Curve) confrontando </a:t>
            </a:r>
          </a:p>
          <a:p>
            <a:pPr algn="ctr"/>
            <a:r>
              <a:rPr lang="it-IT" b="1" dirty="0">
                <a:solidFill>
                  <a:srgbClr val="1E1E2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il giorno D1 ed il giorno D7.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1E24"/>
                </a:solidFill>
                <a:latin typeface="Arial"/>
              </a:defRPr>
            </a:pPr>
            <a:r>
              <a:rPr lang="it-IT" dirty="0" err="1">
                <a:latin typeface="Poppins" panose="00000500000000000000" pitchFamily="2" charset="0"/>
                <a:cs typeface="Poppins" panose="00000500000000000000" pitchFamily="2" charset="0"/>
              </a:rPr>
              <a:t>Retention</a:t>
            </a:r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 Matrix</a:t>
            </a:r>
            <a:r>
              <a:rPr dirty="0">
                <a:latin typeface="Poppins" panose="00000500000000000000" pitchFamily="2" charset="0"/>
                <a:cs typeface="Poppins" panose="00000500000000000000" pitchFamily="2" charset="0"/>
              </a:rPr>
              <a:t> &amp; Heatmap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620384"/>
              </p:ext>
            </p:extLst>
          </p:nvPr>
        </p:nvGraphicFramePr>
        <p:xfrm>
          <a:off x="914552" y="1217234"/>
          <a:ext cx="10362895" cy="49859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7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11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Week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Utenti</a:t>
                      </a:r>
                      <a:r>
                        <a:rPr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</a:t>
                      </a:r>
                      <a:r>
                        <a:rPr sz="14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iniziali</a:t>
                      </a:r>
                      <a:endParaRPr sz="14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Retention D1 (%)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Retention D7 (%)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987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Week 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50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1B4D3E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60.0%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212529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22.0%</a:t>
                      </a:r>
                    </a:p>
                  </a:txBody>
                  <a:tcPr>
                    <a:solidFill>
                      <a:srgbClr val="FFE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987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Week 2</a:t>
                      </a:r>
                    </a:p>
                  </a:txBody>
                  <a:tcPr>
                    <a:solidFill>
                      <a:srgbClr val="90C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121</a:t>
                      </a:r>
                    </a:p>
                  </a:txBody>
                  <a:tcPr>
                    <a:solidFill>
                      <a:srgbClr val="90C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1B4D3E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57.9%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212529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21.5%</a:t>
                      </a:r>
                    </a:p>
                  </a:txBody>
                  <a:tcPr>
                    <a:solidFill>
                      <a:srgbClr val="FFE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987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Week 3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104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1B4D3E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47.1%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212529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24.0%</a:t>
                      </a:r>
                    </a:p>
                  </a:txBody>
                  <a:tcPr>
                    <a:solidFill>
                      <a:srgbClr val="FFC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987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Week 4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106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1B4D3E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61.3%</a:t>
                      </a:r>
                    </a:p>
                  </a:txBody>
                  <a:tcPr>
                    <a:solidFill>
                      <a:srgbClr val="81C7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212529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13.2%</a:t>
                      </a:r>
                    </a:p>
                  </a:txBody>
                  <a:tcPr>
                    <a:solidFill>
                      <a:srgbClr val="FFF5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987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Week 5</a:t>
                      </a:r>
                    </a:p>
                  </a:txBody>
                  <a:tcPr>
                    <a:solidFill>
                      <a:srgbClr val="90C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134</a:t>
                      </a:r>
                    </a:p>
                  </a:txBody>
                  <a:tcPr>
                    <a:solidFill>
                      <a:srgbClr val="90C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1B4D3E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59.0%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212529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23.1%</a:t>
                      </a:r>
                    </a:p>
                  </a:txBody>
                  <a:tcPr>
                    <a:solidFill>
                      <a:srgbClr val="FFE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987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Week 6</a:t>
                      </a:r>
                    </a:p>
                  </a:txBody>
                  <a:tcPr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115</a:t>
                      </a:r>
                    </a:p>
                  </a:txBody>
                  <a:tcPr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1B4D3E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51.3%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212529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24.4%</a:t>
                      </a:r>
                    </a:p>
                  </a:txBody>
                  <a:tcPr>
                    <a:solidFill>
                      <a:srgbClr val="FFC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987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Week 7</a:t>
                      </a:r>
                    </a:p>
                  </a:txBody>
                  <a:tcPr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111</a:t>
                      </a:r>
                    </a:p>
                  </a:txBody>
                  <a:tcPr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1B4D3E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63.1%</a:t>
                      </a:r>
                    </a:p>
                  </a:txBody>
                  <a:tcPr>
                    <a:solidFill>
                      <a:srgbClr val="81C7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212529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18.0%</a:t>
                      </a:r>
                    </a:p>
                  </a:txBody>
                  <a:tcPr>
                    <a:solidFill>
                      <a:srgbClr val="FFF5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987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Week 8</a:t>
                      </a:r>
                    </a:p>
                  </a:txBody>
                  <a:tcPr>
                    <a:solidFill>
                      <a:srgbClr val="90C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123</a:t>
                      </a:r>
                    </a:p>
                  </a:txBody>
                  <a:tcPr>
                    <a:solidFill>
                      <a:srgbClr val="90C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1B4D3E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62.6%</a:t>
                      </a:r>
                    </a:p>
                  </a:txBody>
                  <a:tcPr>
                    <a:solidFill>
                      <a:srgbClr val="81C7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212529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21.1%</a:t>
                      </a:r>
                    </a:p>
                  </a:txBody>
                  <a:tcPr>
                    <a:solidFill>
                      <a:srgbClr val="FFE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987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Week 9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96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1B4D3E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58.3%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212529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25.0%</a:t>
                      </a:r>
                    </a:p>
                  </a:txBody>
                  <a:tcPr>
                    <a:solidFill>
                      <a:srgbClr val="FFC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0987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Week 10</a:t>
                      </a:r>
                    </a:p>
                  </a:txBody>
                  <a:tcPr>
                    <a:solidFill>
                      <a:srgbClr val="90C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128</a:t>
                      </a:r>
                    </a:p>
                  </a:txBody>
                  <a:tcPr>
                    <a:solidFill>
                      <a:srgbClr val="90C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1B4D3E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59.4%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212529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21.9%</a:t>
                      </a:r>
                    </a:p>
                  </a:txBody>
                  <a:tcPr>
                    <a:solidFill>
                      <a:srgbClr val="FFE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0987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Week 11</a:t>
                      </a:r>
                    </a:p>
                  </a:txBody>
                  <a:tcPr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110</a:t>
                      </a:r>
                    </a:p>
                  </a:txBody>
                  <a:tcPr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1B4D3E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57.3%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212529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20.0%</a:t>
                      </a:r>
                    </a:p>
                  </a:txBody>
                  <a:tcPr>
                    <a:solidFill>
                      <a:srgbClr val="FFE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0987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Week 12</a:t>
                      </a:r>
                    </a:p>
                  </a:txBody>
                  <a:tcPr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112</a:t>
                      </a:r>
                    </a:p>
                  </a:txBody>
                  <a:tcPr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1B4D3E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56.3%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212529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17.9%</a:t>
                      </a:r>
                    </a:p>
                  </a:txBody>
                  <a:tcPr>
                    <a:solidFill>
                      <a:srgbClr val="FFF5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0987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Week 13</a:t>
                      </a:r>
                    </a:p>
                  </a:txBody>
                  <a:tcPr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117</a:t>
                      </a:r>
                    </a:p>
                  </a:txBody>
                  <a:tcPr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1B4D3E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53.9%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212529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24.0%</a:t>
                      </a:r>
                    </a:p>
                  </a:txBody>
                  <a:tcPr>
                    <a:solidFill>
                      <a:srgbClr val="FFC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0987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Week 14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1B4D3E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66.7%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1E24"/>
                          </a:solidFill>
                        </a:defRPr>
                      </a:pPr>
                      <a:r>
                        <a:rPr sz="1200" b="1" dirty="0">
                          <a:solidFill>
                            <a:srgbClr val="212529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58.3%</a:t>
                      </a:r>
                    </a:p>
                  </a:txBody>
                  <a:tcPr>
                    <a:solidFill>
                      <a:srgbClr val="FFB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1E24"/>
                </a:solidFill>
                <a:latin typeface="Arial"/>
              </a:defRPr>
            </a:pPr>
            <a:r>
              <a:rPr dirty="0">
                <a:latin typeface="Poppins" panose="00000500000000000000" pitchFamily="2" charset="0"/>
                <a:cs typeface="Poppins" panose="00000500000000000000" pitchFamily="2" charset="0"/>
              </a:rPr>
              <a:t>Trend Retention D1 vs D7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067826"/>
              </p:ext>
            </p:extLst>
          </p:nvPr>
        </p:nvGraphicFramePr>
        <p:xfrm>
          <a:off x="914400" y="1371600"/>
          <a:ext cx="10362895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09590" y="2560320"/>
            <a:ext cx="1371600" cy="54864"/>
          </a:xfrm>
          <a:prstGeom prst="rect">
            <a:avLst/>
          </a:prstGeom>
          <a:solidFill>
            <a:srgbClr val="375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48495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1E1E24"/>
                </a:solidFill>
              </a:defRPr>
            </a:pPr>
            <a:r>
              <a:rPr dirty="0">
                <a:latin typeface="Poppins" panose="00000500000000000000" pitchFamily="2" charset="0"/>
                <a:cs typeface="Poppins" panose="00000500000000000000" pitchFamily="2" charset="0"/>
              </a:rPr>
              <a:t>Experimentation Impact</a:t>
            </a:r>
          </a:p>
          <a:p>
            <a:pPr algn="ctr"/>
            <a:br>
              <a:rPr b="1" dirty="0">
                <a:solidFill>
                  <a:srgbClr val="1E1E24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b="1" dirty="0" err="1">
                <a:solidFill>
                  <a:srgbClr val="1E1E2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Risultati</a:t>
            </a:r>
            <a:r>
              <a:rPr b="1" dirty="0">
                <a:solidFill>
                  <a:srgbClr val="1E1E2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b="1" dirty="0" err="1">
                <a:solidFill>
                  <a:srgbClr val="1E1E2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dell'A</a:t>
            </a:r>
            <a:r>
              <a:rPr b="1" dirty="0">
                <a:solidFill>
                  <a:srgbClr val="1E1E2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/B Test </a:t>
            </a:r>
            <a:r>
              <a:rPr b="1" dirty="0" err="1">
                <a:solidFill>
                  <a:srgbClr val="1E1E2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tra</a:t>
            </a:r>
            <a:r>
              <a:rPr b="1" dirty="0">
                <a:solidFill>
                  <a:srgbClr val="1E1E2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la </a:t>
            </a:r>
            <a:r>
              <a:rPr lang="it-IT" b="1" dirty="0">
                <a:solidFill>
                  <a:srgbClr val="1E1E2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Lezione Standard e la variante Microlezione</a:t>
            </a:r>
            <a:r>
              <a:rPr b="1" dirty="0">
                <a:solidFill>
                  <a:srgbClr val="1E1E2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1E24"/>
                </a:solidFill>
                <a:latin typeface="Arial"/>
              </a:defRPr>
            </a:pPr>
            <a:r>
              <a:rPr dirty="0" err="1">
                <a:latin typeface="Poppins" panose="00000500000000000000" pitchFamily="2" charset="0"/>
                <a:cs typeface="Poppins" panose="00000500000000000000" pitchFamily="2" charset="0"/>
              </a:rPr>
              <a:t>Confronto</a:t>
            </a:r>
            <a:r>
              <a:rPr dirty="0">
                <a:latin typeface="Poppins" panose="00000500000000000000" pitchFamily="2" charset="0"/>
                <a:cs typeface="Poppins" panose="00000500000000000000" pitchFamily="2" charset="0"/>
              </a:rPr>
              <a:t> Uplift </a:t>
            </a:r>
            <a:r>
              <a:rPr dirty="0" err="1">
                <a:latin typeface="Poppins" panose="00000500000000000000" pitchFamily="2" charset="0"/>
                <a:cs typeface="Poppins" panose="00000500000000000000" pitchFamily="2" charset="0"/>
              </a:rPr>
              <a:t>Conversione</a:t>
            </a:r>
            <a:endParaRPr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550746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rPr lang="it-IT" dirty="0">
                <a:solidFill>
                  <a:srgbClr val="1E1E24"/>
                </a:solidFill>
              </a:rPr>
              <a:t>Lezione Standard</a:t>
            </a:r>
            <a:endParaRPr dirty="0">
              <a:solidFill>
                <a:srgbClr val="1E1E24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657600" y="2286000"/>
            <a:ext cx="7315200" cy="457200"/>
          </a:xfrm>
          <a:prstGeom prst="roundRect">
            <a:avLst/>
          </a:prstGeom>
          <a:solidFill>
            <a:srgbClr val="C3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0" y="2286000"/>
            <a:ext cx="4491532" cy="457200"/>
          </a:xfrm>
          <a:prstGeom prst="roundRect">
            <a:avLst/>
          </a:prstGeom>
          <a:solidFill>
            <a:srgbClr val="375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b="1"/>
            </a:pPr>
            <a:r>
              <a:rPr dirty="0"/>
              <a:t>61.4%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21757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rPr lang="it-IT" dirty="0">
                <a:solidFill>
                  <a:srgbClr val="1E1E24"/>
                </a:solidFill>
              </a:rPr>
              <a:t>Microlezione</a:t>
            </a:r>
            <a:endParaRPr dirty="0">
              <a:solidFill>
                <a:srgbClr val="1E1E24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0" y="3291840"/>
            <a:ext cx="7315200" cy="457200"/>
          </a:xfrm>
          <a:prstGeom prst="roundRect">
            <a:avLst/>
          </a:prstGeom>
          <a:solidFill>
            <a:srgbClr val="C3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57600" y="3291840"/>
            <a:ext cx="4820716" cy="457200"/>
          </a:xfrm>
          <a:prstGeom prst="roundRect">
            <a:avLst/>
          </a:prstGeom>
          <a:solidFill>
            <a:srgbClr val="3CA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b="1"/>
            </a:pPr>
            <a:r>
              <a:t>65.9%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48532C2A-E2CF-E10A-DC7D-DECD16326959}"/>
              </a:ext>
            </a:extLst>
          </p:cNvPr>
          <p:cNvSpPr/>
          <p:nvPr/>
        </p:nvSpPr>
        <p:spPr>
          <a:xfrm>
            <a:off x="919886" y="4916129"/>
            <a:ext cx="9966960" cy="1209367"/>
          </a:xfrm>
          <a:prstGeom prst="roundRect">
            <a:avLst/>
          </a:prstGeom>
          <a:solidFill>
            <a:srgbClr val="F5F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C08608E-E047-CBDC-AF96-D7DF2D37BA22}"/>
              </a:ext>
            </a:extLst>
          </p:cNvPr>
          <p:cNvSpPr txBox="1"/>
          <p:nvPr/>
        </p:nvSpPr>
        <p:spPr>
          <a:xfrm>
            <a:off x="1140542" y="5152103"/>
            <a:ext cx="952745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rgbClr val="1E1E24"/>
                </a:solidFill>
              </a:rPr>
              <a:t>La variante Microlezione genera un incremento relativo del +7.33% nella conversione complessiva. </a:t>
            </a:r>
          </a:p>
          <a:p>
            <a:r>
              <a:rPr lang="it-IT" sz="1600" b="1" dirty="0">
                <a:solidFill>
                  <a:srgbClr val="1E1E24"/>
                </a:solidFill>
              </a:rPr>
              <a:t>Il p-</a:t>
            </a:r>
            <a:r>
              <a:rPr lang="it-IT" sz="1600" b="1" dirty="0" err="1">
                <a:solidFill>
                  <a:srgbClr val="1E1E24"/>
                </a:solidFill>
              </a:rPr>
              <a:t>value</a:t>
            </a:r>
            <a:r>
              <a:rPr lang="it-IT" sz="1600" b="1" dirty="0">
                <a:solidFill>
                  <a:srgbClr val="1E1E24"/>
                </a:solidFill>
              </a:rPr>
              <a:t> (</a:t>
            </a:r>
            <a:r>
              <a:rPr lang="it-IT" sz="1600" b="1" dirty="0" err="1">
                <a:solidFill>
                  <a:srgbClr val="1E1E24"/>
                </a:solidFill>
              </a:rPr>
              <a:t>two-tailed</a:t>
            </a:r>
            <a:r>
              <a:rPr lang="it-IT" sz="1600" b="1" dirty="0">
                <a:solidFill>
                  <a:srgbClr val="1E1E24"/>
                </a:solidFill>
              </a:rPr>
              <a:t>) 0.0361 garantisce la significatività statistica a livello p &lt; 0.05.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328</Words>
  <Application>Microsoft Office PowerPoint</Application>
  <PresentationFormat>Widescreen</PresentationFormat>
  <Paragraphs>105</Paragraphs>
  <Slides>8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Lato</vt:lpstr>
      <vt:lpstr>Poppins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FEDERICO POMESANO</cp:lastModifiedBy>
  <cp:revision>4</cp:revision>
  <dcterms:created xsi:type="dcterms:W3CDTF">2013-01-27T09:14:16Z</dcterms:created>
  <dcterms:modified xsi:type="dcterms:W3CDTF">2026-09-16T00:02:55Z</dcterms:modified>
  <cp:category/>
</cp:coreProperties>
</file>